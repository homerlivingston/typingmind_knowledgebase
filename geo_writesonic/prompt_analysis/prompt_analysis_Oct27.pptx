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DM Sans" pitchFamily="2" charset="77"/>
      <p:regular r:id="rId12"/>
      <p:bold r:id="rId13"/>
      <p:italic r:id="rId14"/>
      <p:boldItalic r:id="rId15"/>
    </p:embeddedFont>
    <p:embeddedFont>
      <p:font typeface="PT Serif" panose="020A0603040505020204" pitchFamily="18" charset="77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5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5457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25378"/>
            <a:ext cx="1098411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Spot Pet Insurance: GEO Prompt Analysis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42232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Search Visibility &amp; Opportunity Assessment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413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October 27,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854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Executive Summary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593533"/>
            <a:ext cx="9583579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 Tested 452 Prompts Across 6 AI Platforms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25291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Reality: We're Invisible on 85% of Queries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60527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452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829270" y="42923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Prompts Analyzed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4800481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ChatGPT, Gemini, Perplexity, Copilot, Google AI, and Claude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25278" y="326052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384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4160758" y="42923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Zero Visibility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125278" y="480048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85% of prompts where competitors dominate completely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456884" y="326052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61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7492365" y="42923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 Visibility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56884" y="480048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16% visibility, ready to scale with focused effort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788491" y="326052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10823972" y="42923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Strong Visibility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788491" y="480048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33% visibility on proven winners to replicate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6144339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488430"/>
            <a:ext cx="283488" cy="22681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30906" y="6427827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Bottom Line: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Only 68 prompts (15%) show any Spot visibility. Competitors own 85% of the AI search conversation—representing roughly 343 prompts daily where we're completely absent while competitors appear.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2343"/>
            <a:ext cx="13042821" cy="141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Problem: We're Missing While Competitors Show Up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2412"/>
            <a:ext cx="7000637" cy="56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Visibility Gap Tracking (Started Oct 21</a:t>
            </a:r>
            <a:r>
              <a:rPr lang="en-US" sz="3550" baseline="30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</a:t>
            </a: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)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83625"/>
            <a:ext cx="7234476" cy="40512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42546" y="3256598"/>
            <a:ext cx="4834414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Average Daily Gap: </a:t>
            </a:r>
            <a:r>
              <a:rPr lang="en-US" sz="265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343 Prompts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8942546" y="3896201"/>
            <a:ext cx="4901565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gap fluctuates between 324-361 prompts daily, representing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76% of all prompts tested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where competitors are mentioned but Spot is not.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942546" y="5469255"/>
            <a:ext cx="4901565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visibility gap is where we're losing market share in AI search. Every day, potential customers receive AI recommendations without ever hearing about Spot.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9967"/>
            <a:ext cx="9923978" cy="632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What's Working: Our 33% Visibility Winners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93790" y="1399580"/>
            <a:ext cx="9464159" cy="50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 Prompts Where We're Winning (Learn &amp; Replicate)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793790" y="2194917"/>
            <a:ext cx="6424970" cy="1903809"/>
          </a:xfrm>
          <a:prstGeom prst="roundRect">
            <a:avLst>
              <a:gd name="adj" fmla="val 5764"/>
            </a:avLst>
          </a:prstGeom>
          <a:solidFill>
            <a:srgbClr val="FFFFFF"/>
          </a:solidFill>
          <a:ln w="2286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0930" y="2194917"/>
            <a:ext cx="91440" cy="1903809"/>
          </a:xfrm>
          <a:prstGeom prst="roundRect">
            <a:avLst>
              <a:gd name="adj" fmla="val 31628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7992" y="2410539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Perks &amp; Discounts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77992" y="2842379"/>
            <a:ext cx="592514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"pet insurance companies with member discounts and extra perks"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7992" y="3574733"/>
            <a:ext cx="592514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33% visibility, +8% growth momentum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11522" y="2194917"/>
            <a:ext cx="6425089" cy="1903809"/>
          </a:xfrm>
          <a:prstGeom prst="roundRect">
            <a:avLst>
              <a:gd name="adj" fmla="val 5764"/>
            </a:avLst>
          </a:prstGeom>
          <a:solidFill>
            <a:srgbClr val="FFFFFF"/>
          </a:solidFill>
          <a:ln w="2286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88662" y="2194917"/>
            <a:ext cx="91440" cy="1903809"/>
          </a:xfrm>
          <a:prstGeom prst="roundRect">
            <a:avLst>
              <a:gd name="adj" fmla="val 31628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95724" y="2410539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Wellness Care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95724" y="2842379"/>
            <a:ext cx="592526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"compare pet insurance wellness plans which ones cheapest with good preventive care benefits"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95724" y="3574733"/>
            <a:ext cx="592526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33% visibility, +33% growth momentum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3790" y="4291489"/>
            <a:ext cx="6424970" cy="1903809"/>
          </a:xfrm>
          <a:prstGeom prst="roundRect">
            <a:avLst>
              <a:gd name="adj" fmla="val 5764"/>
            </a:avLst>
          </a:prstGeom>
          <a:solidFill>
            <a:srgbClr val="FFFFFF"/>
          </a:solidFill>
          <a:ln w="2286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0930" y="4291489"/>
            <a:ext cx="91440" cy="1903809"/>
          </a:xfrm>
          <a:prstGeom prst="roundRect">
            <a:avLst>
              <a:gd name="adj" fmla="val 31628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7992" y="4507111"/>
            <a:ext cx="2568416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 Claims Processing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77992" y="4938951"/>
            <a:ext cx="592514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"best pet insurance fastest claims processing"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7992" y="5362932"/>
            <a:ext cx="592514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33% visibility, +33% growth momentum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11522" y="4291489"/>
            <a:ext cx="6425089" cy="1903809"/>
          </a:xfrm>
          <a:prstGeom prst="roundRect">
            <a:avLst>
              <a:gd name="adj" fmla="val 5764"/>
            </a:avLst>
          </a:prstGeom>
          <a:solidFill>
            <a:srgbClr val="FFFFFF"/>
          </a:solidFill>
          <a:ln w="22860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88662" y="4291489"/>
            <a:ext cx="91440" cy="1903809"/>
          </a:xfrm>
          <a:prstGeom prst="roundRect">
            <a:avLst>
              <a:gd name="adj" fmla="val 31628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95724" y="4507111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Branded Search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695724" y="4938951"/>
            <a:ext cx="592526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"most affordable dog insurance options under 50 dollars monthly budget"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95724" y="5671304"/>
            <a:ext cx="592526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33% visibility, +33% growth momentum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3790" y="6412111"/>
            <a:ext cx="13042821" cy="1127403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2" y="6697623"/>
            <a:ext cx="240983" cy="19276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420297" y="6652974"/>
            <a:ext cx="1222355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Winning Pattern Identified:</a:t>
            </a:r>
            <a:r>
              <a:rPr lang="en-US" sz="15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Wellness care, affordability messaging, discount transparency, and fast claims processing drive our strongest AI visibility. These themes resonate with AI recommendation algorithms and should inform all content strategy.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5678"/>
            <a:ext cx="4705350" cy="483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Biggest Opportunity Topics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1208365"/>
            <a:ext cx="5909667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Where We Need to Win (Top 9 by Volume)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93790" y="1816418"/>
            <a:ext cx="13042821" cy="4284345"/>
          </a:xfrm>
          <a:prstGeom prst="roundRect">
            <a:avLst>
              <a:gd name="adj" fmla="val 4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1824038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9047" y="1920002"/>
            <a:ext cx="10040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55520" y="1920002"/>
            <a:ext cx="425719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Topic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15138" y="1920002"/>
            <a:ext cx="16516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769191" y="1920002"/>
            <a:ext cx="4912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Performance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1410" y="2251710"/>
            <a:ext cx="13027581" cy="4276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9047" y="2347674"/>
            <a:ext cx="10040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55520" y="2347674"/>
            <a:ext cx="425719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Claims Processing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15138" y="2347674"/>
            <a:ext cx="16516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46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69191" y="2347674"/>
            <a:ext cx="4912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Mixed (6 at 16%, rest at 0%)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410" y="2679383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9047" y="2775347"/>
            <a:ext cx="10040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55520" y="2775347"/>
            <a:ext cx="425719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Employer Benefits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15138" y="2775347"/>
            <a:ext cx="16516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69191" y="2775347"/>
            <a:ext cx="4912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Mostly 0% visibility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1410" y="3107055"/>
            <a:ext cx="13027581" cy="4276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9047" y="3203019"/>
            <a:ext cx="10040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255520" y="3203019"/>
            <a:ext cx="425719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Hereditary/Chronic Conditions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15138" y="3203019"/>
            <a:ext cx="16516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69191" y="3203019"/>
            <a:ext cx="4912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Mostly 0% visibility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1410" y="3534728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9047" y="3630692"/>
            <a:ext cx="10040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255520" y="3630692"/>
            <a:ext cx="425719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Network Restrictions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15138" y="3630692"/>
            <a:ext cx="16516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69191" y="3630692"/>
            <a:ext cx="4912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Mixed performance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1410" y="3962400"/>
            <a:ext cx="13027581" cy="4276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49047" y="4058364"/>
            <a:ext cx="10040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255520" y="4058364"/>
            <a:ext cx="425719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Puppy &amp; Kitten Insurance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15138" y="4058364"/>
            <a:ext cx="16516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769191" y="4058364"/>
            <a:ext cx="4912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Mostly 0% visibility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1410" y="4390073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49047" y="4486037"/>
            <a:ext cx="10040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255520" y="4486037"/>
            <a:ext cx="425719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Multi-Pet Insurance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15138" y="4486037"/>
            <a:ext cx="16516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769191" y="4486037"/>
            <a:ext cx="4912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at 16%, rest at 0%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01410" y="4817745"/>
            <a:ext cx="13027581" cy="4276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49047" y="4913709"/>
            <a:ext cx="10040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255520" y="4913709"/>
            <a:ext cx="425719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Dogs &amp; Cats General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815138" y="4913709"/>
            <a:ext cx="16516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769191" y="4913709"/>
            <a:ext cx="4912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Mostly 0% visibility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01410" y="5245418"/>
            <a:ext cx="13027581" cy="4276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49047" y="5341382"/>
            <a:ext cx="10040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255520" y="5341382"/>
            <a:ext cx="425719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Wellness &amp; Preventive Care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815138" y="5341382"/>
            <a:ext cx="16516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44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769191" y="5341382"/>
            <a:ext cx="4912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Some 33% winners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01410" y="5673090"/>
            <a:ext cx="13027581" cy="42767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49047" y="5769054"/>
            <a:ext cx="100405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255520" y="5769054"/>
            <a:ext cx="425719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Accident &amp; Illness Coverage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15138" y="5769054"/>
            <a:ext cx="165163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44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769191" y="5769054"/>
            <a:ext cx="49124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Mostly 0% visibility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922020"/>
            <a:ext cx="11530846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High-Value Opportunities: 5 Prompts to Prioritize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70334" y="1967984"/>
            <a:ext cx="445651" cy="44565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7128" y="1995785"/>
            <a:ext cx="311944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413986" y="2005013"/>
            <a:ext cx="3119914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Multi-Pet Coverage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1413986" y="2513767"/>
            <a:ext cx="3554492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"affordable pet insurance that covers both dogs and cats under one plan"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3986" y="3266480"/>
            <a:ext cx="3554492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16% visibility (+16% growth)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3986" y="3702248"/>
            <a:ext cx="3554492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Directly aligns with Priority #1 Add-a-Pet initiative. Multi-pet households represent high lifetime value customers. We lead ChatGPT at 72% share of voice.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13986" y="5405795"/>
            <a:ext cx="3554492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Amplify multi-pet discount content, create side-by-side comparison guides, and actively target high-authority review sites with our multi-pet value proposition.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16009" y="1967984"/>
            <a:ext cx="445651" cy="44565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82803" y="1995785"/>
            <a:ext cx="311944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5859661" y="2005013"/>
            <a:ext cx="3168134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 Claims Processing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5859661" y="2513767"/>
            <a:ext cx="3554611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"best pet insurance fastest claims processing"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859661" y="3266480"/>
            <a:ext cx="3554611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33% visibility (+33% growth) </a:t>
            </a:r>
            <a:r>
              <a:rPr lang="en-US" sz="15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 Top Tier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859661" y="4019193"/>
            <a:ext cx="3554611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Already winning with strong upward momentum. Our 2-3 day processing time is a competitive advantage that resonates in AI recommendations.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859661" y="5722739"/>
            <a:ext cx="3554611" cy="1267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Protect and amplify this strength. Position as "speed + vet freedom" versus Trupanion's direct pay model which limits provider choice.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661803" y="1967984"/>
            <a:ext cx="445651" cy="445651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28597" y="1995785"/>
            <a:ext cx="311944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450" dirty="0"/>
          </a:p>
        </p:txBody>
      </p:sp>
      <p:sp>
        <p:nvSpPr>
          <p:cNvPr id="19" name="Text 17"/>
          <p:cNvSpPr/>
          <p:nvPr/>
        </p:nvSpPr>
        <p:spPr>
          <a:xfrm>
            <a:off x="10305455" y="2005013"/>
            <a:ext cx="3119914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Budget Multi-Pet</a:t>
            </a:r>
            <a:endParaRPr lang="en-US" sz="2450" dirty="0"/>
          </a:p>
        </p:txBody>
      </p:sp>
      <p:sp>
        <p:nvSpPr>
          <p:cNvPr id="20" name="Text 18"/>
          <p:cNvSpPr/>
          <p:nvPr/>
        </p:nvSpPr>
        <p:spPr>
          <a:xfrm>
            <a:off x="10305455" y="2513767"/>
            <a:ext cx="3554611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"cheapest pet insurance for household with multiple dogs and cats"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305455" y="3266480"/>
            <a:ext cx="3554611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16% visibility (stable, not growing)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305455" y="4019193"/>
            <a:ext cx="3554611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Combines affordability messaging with multi-pet targeting—the largest addressable market segment for cost-conscious pet parents with multiple animals.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305455" y="5722739"/>
            <a:ext cx="3554611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Develop transparent pricing content, interactive cost calculators, and comprehensive multi-pet savings guides that demonstrate cumulative discount value.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619720"/>
            <a:ext cx="6120765" cy="665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High-Value Opportunities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88670" y="1366361"/>
            <a:ext cx="4259342" cy="53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Continued</a:t>
            </a:r>
            <a:endParaRPr lang="en-US" sz="3350" dirty="0"/>
          </a:p>
        </p:txBody>
      </p:sp>
      <p:sp>
        <p:nvSpPr>
          <p:cNvPr id="4" name="Shape 2"/>
          <p:cNvSpPr/>
          <p:nvPr/>
        </p:nvSpPr>
        <p:spPr>
          <a:xfrm>
            <a:off x="788670" y="2202894"/>
            <a:ext cx="456367" cy="45636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7071" y="2231410"/>
            <a:ext cx="319445" cy="399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</a:rPr>
              <a:t>4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447800" y="2240875"/>
            <a:ext cx="4027408" cy="399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Employer Benefits Programs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447800" y="2761774"/>
            <a:ext cx="574059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"best companies offering pet insurance employee benefits"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47800" y="3208020"/>
            <a:ext cx="574059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16% visibility (+11% growth)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47800" y="3654266"/>
            <a:ext cx="5740598" cy="1298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Represents 46 prompts in this category alone, optimizing this content now can aid us as open enrollment period begins.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47800" y="5074206"/>
            <a:ext cx="5740598" cy="1298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Publish and prominently showcase current partnership success stories, with specific enrollment metrics and data, to optimize for both HR reps doing research, and potential employer policies. 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41883" y="2202894"/>
            <a:ext cx="456367" cy="45636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10284" y="2231410"/>
            <a:ext cx="319445" cy="399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</a:rPr>
              <a:t>5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101013" y="2240875"/>
            <a:ext cx="3922990" cy="399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Wellness &amp; Preventive Care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101013" y="2761774"/>
            <a:ext cx="574071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"pet insurance with preventative care add on features"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101013" y="3208020"/>
            <a:ext cx="574071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16% visibility (+16% growth)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01013" y="3654266"/>
            <a:ext cx="5740718" cy="1298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Related wellness prompts already achieving 33% visibility prove this is a winning pattern. Wellness add-ons increase per-policy value and demonstrate comprehensive care commitment.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101013" y="5074206"/>
            <a:ext cx="5740718" cy="973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Create comprehensive wellness guides, detailed cost-benefit analyses, and comparison content that positions our preventive care options against competitors.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88670" y="6701896"/>
            <a:ext cx="13053060" cy="32861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8670" y="6962775"/>
            <a:ext cx="13053060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Success Thread: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All 5 identified opportunities show existing growth momentum or proven success patterns in related queries. They represent </a:t>
            </a:r>
            <a:r>
              <a:rPr lang="en-US" sz="15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winnable territory</a:t>
            </a: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focused content investment and strategic positioning.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741164"/>
            <a:ext cx="4616410" cy="48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Recommended Action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2361" y="1282898"/>
            <a:ext cx="4249579" cy="386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90-Day Sprint to Close the Gap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2361" y="1889998"/>
            <a:ext cx="130456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Goal: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Reduce visibility gap from </a:t>
            </a:r>
            <a:r>
              <a:rPr lang="en-US" sz="11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343 prompts → &lt;250 prompts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(27% improvement)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92361" y="4915376"/>
            <a:ext cx="13045678" cy="15240"/>
          </a:xfrm>
          <a:prstGeom prst="roundRect">
            <a:avLst>
              <a:gd name="adj" fmla="val 14484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02423" y="4473952"/>
            <a:ext cx="15240" cy="441484"/>
          </a:xfrm>
          <a:prstGeom prst="roundRect">
            <a:avLst>
              <a:gd name="adj" fmla="val 14484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44547" y="4749820"/>
            <a:ext cx="331113" cy="33111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94196" y="4770477"/>
            <a:ext cx="231696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44447" y="2290882"/>
            <a:ext cx="1931432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Immediate Actions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9522" y="2620447"/>
            <a:ext cx="83414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30 Days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9522" y="2944058"/>
            <a:ext cx="83414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Multi-Pet Blitz: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Create 5-7 high-quality content pieces targeting 16% visibility multi-pet prompts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9522" y="3230880"/>
            <a:ext cx="83414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Review Sites: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Place content on high-DR platforms (NerdWallet, CNBC, Bankrate) for maximum AI visibility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9522" y="3517702"/>
            <a:ext cx="83414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 Winners: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Audit all claims content to ensure "2-3 day processing" is prominently featured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9522" y="3804523"/>
            <a:ext cx="83414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Position vs Competition: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Establish "speed + vet freedom" narrative against Trupanion's restrictive model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9522" y="4091345"/>
            <a:ext cx="83414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 Wins: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Identify and create targeted content for 10-15 high-volume 0% visibility prompts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12260" y="4915317"/>
            <a:ext cx="15240" cy="441484"/>
          </a:xfrm>
          <a:prstGeom prst="roundRect">
            <a:avLst>
              <a:gd name="adj" fmla="val 14484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354383" y="4749820"/>
            <a:ext cx="331113" cy="331113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04033" y="4770477"/>
            <a:ext cx="231696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54283" y="5504021"/>
            <a:ext cx="1931432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Short-Term Initiatives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359" y="5833586"/>
            <a:ext cx="83414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60-90 Days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49359" y="6157198"/>
            <a:ext cx="8341400" cy="470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Employer Benefits Hub: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Launch dedicated landing pages with HR resources, partnership case studies, and enrollment tools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49359" y="6679406"/>
            <a:ext cx="83414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Wellness Expansion: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Develop interactive cost calculators, comprehensive care guides, and preventive care positioning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49359" y="6966228"/>
            <a:ext cx="83414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 Success Patterns: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Replicate our 33% visibility strategies across the 61 prompts currently at 16% visibility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49359" y="7253049"/>
            <a:ext cx="834140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Partnerships:</a:t>
            </a: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Establish ongoing relationships with top-tier review and comparison sites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9614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Success Metrics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345763"/>
            <a:ext cx="4451271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We'll Measure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3790" y="2047518"/>
            <a:ext cx="13042821" cy="2964180"/>
          </a:xfrm>
          <a:prstGeom prst="roundRect">
            <a:avLst>
              <a:gd name="adj" fmla="val 8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2055138"/>
            <a:ext cx="13027581" cy="4914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1669" y="2164794"/>
            <a:ext cx="486715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6488" y="216479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91932" y="216479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30-Day Target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397377" y="2164794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90-Day Target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410" y="2546628"/>
            <a:ext cx="13027581" cy="4914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1669" y="2656284"/>
            <a:ext cx="486715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Prompts with &gt;0% Visibility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86488" y="265628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67 (15%)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91932" y="265628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 (18%)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97377" y="2656284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100+ (22%)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410" y="3038118"/>
            <a:ext cx="13027581" cy="4914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1669" y="3147774"/>
            <a:ext cx="486715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Prompts at 16%+ Visibility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86488" y="314777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91932" y="314777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97377" y="3147774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85+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1410" y="3529608"/>
            <a:ext cx="13027581" cy="4914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1669" y="3639264"/>
            <a:ext cx="486715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Prompts at 33%+ Visibility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86488" y="363926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91932" y="363926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97377" y="3639264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15+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1410" y="4021098"/>
            <a:ext cx="13027581" cy="4914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1669" y="4130754"/>
            <a:ext cx="486715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Daily Visibility Gap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86488" y="413075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343 prompts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91932" y="413075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310 prompts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397377" y="4130754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&lt;250 prompts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1410" y="4512588"/>
            <a:ext cx="13027581" cy="4914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71669" y="4622244"/>
            <a:ext cx="4867156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Gap Reduction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86488" y="462224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91932" y="4622244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397377" y="4622244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93790" y="5288067"/>
            <a:ext cx="13042821" cy="28813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3790" y="5678210"/>
            <a:ext cx="2844522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Investment Focus Areas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793790" y="6183035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High-DR review site content partnerships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93790" y="6514743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Educational content for informational queries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3790" y="6846451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Multi-pet and wellness topic authority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93790" y="7178159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Employer benefits B2B content development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530346" y="5678210"/>
            <a:ext cx="267938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Expected Outcome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7530346" y="6183035"/>
            <a:ext cx="6313884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Double our AI search visibility footprint in 90 days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while establishing defensible content moats in our strongest performing categories and winning back branded search territory.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1205</Words>
  <Application>Microsoft Macintosh PowerPoint</Application>
  <PresentationFormat>Custom</PresentationFormat>
  <Paragraphs>175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PT Serif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Homer Livingston</cp:lastModifiedBy>
  <cp:revision>2</cp:revision>
  <dcterms:created xsi:type="dcterms:W3CDTF">2025-10-27T14:22:56Z</dcterms:created>
  <dcterms:modified xsi:type="dcterms:W3CDTF">2025-10-27T15:07:25Z</dcterms:modified>
</cp:coreProperties>
</file>